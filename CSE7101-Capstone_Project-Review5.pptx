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69" r:id="rId3"/>
    <p:sldId id="257" r:id="rId4"/>
    <p:sldId id="274" r:id="rId5"/>
    <p:sldId id="273" r:id="rId6"/>
    <p:sldId id="268" r:id="rId7"/>
    <p:sldId id="272" r:id="rId8"/>
    <p:sldId id="278" r:id="rId9"/>
    <p:sldId id="271" r:id="rId10"/>
    <p:sldId id="282" r:id="rId11"/>
    <p:sldId id="279" r:id="rId12"/>
    <p:sldId id="280" r:id="rId13"/>
    <p:sldId id="281" r:id="rId14"/>
    <p:sldId id="270" r:id="rId15"/>
    <p:sldId id="265" r:id="rId16"/>
    <p:sldId id="26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C63152-DDE9-4EF5-8B92-F7839FDB2C85}" v="6" dt="2025-12-03T07:12:42.193"/>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ohith Karnatakam" userId="91e48cb1b7da0206" providerId="LiveId" clId="{9A9EBA8A-203F-4A0D-B316-2A90FB8CFD77}"/>
    <pc:docChg chg="undo custSel delSld modSld">
      <pc:chgData name="Manohith Karnatakam" userId="91e48cb1b7da0206" providerId="LiveId" clId="{9A9EBA8A-203F-4A0D-B316-2A90FB8CFD77}" dt="2025-12-03T07:13:25.262" v="36" actId="20577"/>
      <pc:docMkLst>
        <pc:docMk/>
      </pc:docMkLst>
      <pc:sldChg chg="modSp mod">
        <pc:chgData name="Manohith Karnatakam" userId="91e48cb1b7da0206" providerId="LiveId" clId="{9A9EBA8A-203F-4A0D-B316-2A90FB8CFD77}" dt="2025-12-03T07:13:25.262" v="36" actId="20577"/>
        <pc:sldMkLst>
          <pc:docMk/>
          <pc:sldMk cId="0" sldId="256"/>
        </pc:sldMkLst>
        <pc:spChg chg="mod">
          <ac:chgData name="Manohith Karnatakam" userId="91e48cb1b7da0206" providerId="LiveId" clId="{9A9EBA8A-203F-4A0D-B316-2A90FB8CFD77}" dt="2025-12-03T07:13:25.262" v="36" actId="20577"/>
          <ac:spMkLst>
            <pc:docMk/>
            <pc:sldMk cId="0" sldId="256"/>
            <ac:spMk id="91" creationId="{00000000-0000-0000-0000-000000000000}"/>
          </ac:spMkLst>
        </pc:spChg>
      </pc:sldChg>
      <pc:sldChg chg="addSp delSp modSp mod">
        <pc:chgData name="Manohith Karnatakam" userId="91e48cb1b7da0206" providerId="LiveId" clId="{9A9EBA8A-203F-4A0D-B316-2A90FB8CFD77}" dt="2025-12-03T07:12:04.820" v="26" actId="688"/>
        <pc:sldMkLst>
          <pc:docMk/>
          <pc:sldMk cId="714806930" sldId="279"/>
        </pc:sldMkLst>
        <pc:picChg chg="add mod">
          <ac:chgData name="Manohith Karnatakam" userId="91e48cb1b7da0206" providerId="LiveId" clId="{9A9EBA8A-203F-4A0D-B316-2A90FB8CFD77}" dt="2025-12-03T07:11:40.997" v="24" actId="688"/>
          <ac:picMkLst>
            <pc:docMk/>
            <pc:sldMk cId="714806930" sldId="279"/>
            <ac:picMk id="4" creationId="{6DC36E09-E198-8589-7267-2466629EF4E9}"/>
          </ac:picMkLst>
        </pc:picChg>
        <pc:picChg chg="del">
          <ac:chgData name="Manohith Karnatakam" userId="91e48cb1b7da0206" providerId="LiveId" clId="{9A9EBA8A-203F-4A0D-B316-2A90FB8CFD77}" dt="2025-12-03T07:09:06.954" v="17" actId="21"/>
          <ac:picMkLst>
            <pc:docMk/>
            <pc:sldMk cId="714806930" sldId="279"/>
            <ac:picMk id="5" creationId="{891A114C-0E8C-F633-A631-1385912A51A4}"/>
          </ac:picMkLst>
        </pc:picChg>
        <pc:picChg chg="add mod">
          <ac:chgData name="Manohith Karnatakam" userId="91e48cb1b7da0206" providerId="LiveId" clId="{9A9EBA8A-203F-4A0D-B316-2A90FB8CFD77}" dt="2025-12-03T07:12:04.820" v="26" actId="688"/>
          <ac:picMkLst>
            <pc:docMk/>
            <pc:sldMk cId="714806930" sldId="279"/>
            <ac:picMk id="6" creationId="{FAA05164-D8DA-C29F-B9E6-BFE4AF5DA03A}"/>
          </ac:picMkLst>
        </pc:picChg>
      </pc:sldChg>
      <pc:sldChg chg="addSp delSp modSp mod">
        <pc:chgData name="Manohith Karnatakam" userId="91e48cb1b7da0206" providerId="LiveId" clId="{9A9EBA8A-203F-4A0D-B316-2A90FB8CFD77}" dt="2025-12-03T07:12:29.929" v="31" actId="1076"/>
        <pc:sldMkLst>
          <pc:docMk/>
          <pc:sldMk cId="887711444" sldId="280"/>
        </pc:sldMkLst>
        <pc:picChg chg="add mod">
          <ac:chgData name="Manohith Karnatakam" userId="91e48cb1b7da0206" providerId="LiveId" clId="{9A9EBA8A-203F-4A0D-B316-2A90FB8CFD77}" dt="2025-12-03T07:12:29.929" v="31" actId="1076"/>
          <ac:picMkLst>
            <pc:docMk/>
            <pc:sldMk cId="887711444" sldId="280"/>
            <ac:picMk id="4" creationId="{D0B2D708-7F3F-3DF5-2C07-5FAB8B3C1975}"/>
          </ac:picMkLst>
        </pc:picChg>
        <pc:picChg chg="add del">
          <ac:chgData name="Manohith Karnatakam" userId="91e48cb1b7da0206" providerId="LiveId" clId="{9A9EBA8A-203F-4A0D-B316-2A90FB8CFD77}" dt="2025-12-03T07:12:10.800" v="27" actId="21"/>
          <ac:picMkLst>
            <pc:docMk/>
            <pc:sldMk cId="887711444" sldId="280"/>
            <ac:picMk id="5" creationId="{0857C227-154B-19F0-5752-2F277599B0B7}"/>
          </ac:picMkLst>
        </pc:picChg>
      </pc:sldChg>
      <pc:sldChg chg="addSp delSp modSp mod">
        <pc:chgData name="Manohith Karnatakam" userId="91e48cb1b7da0206" providerId="LiveId" clId="{9A9EBA8A-203F-4A0D-B316-2A90FB8CFD77}" dt="2025-12-03T07:12:51.310" v="34" actId="1076"/>
        <pc:sldMkLst>
          <pc:docMk/>
          <pc:sldMk cId="2637967426" sldId="281"/>
        </pc:sldMkLst>
        <pc:picChg chg="add mod">
          <ac:chgData name="Manohith Karnatakam" userId="91e48cb1b7da0206" providerId="LiveId" clId="{9A9EBA8A-203F-4A0D-B316-2A90FB8CFD77}" dt="2025-12-03T07:12:51.310" v="34" actId="1076"/>
          <ac:picMkLst>
            <pc:docMk/>
            <pc:sldMk cId="2637967426" sldId="281"/>
            <ac:picMk id="4" creationId="{AF927CB8-B5A3-F78D-3803-72E1676167E1}"/>
          </ac:picMkLst>
        </pc:picChg>
        <pc:picChg chg="del">
          <ac:chgData name="Manohith Karnatakam" userId="91e48cb1b7da0206" providerId="LiveId" clId="{9A9EBA8A-203F-4A0D-B316-2A90FB8CFD77}" dt="2025-12-03T07:08:17.837" v="14" actId="21"/>
          <ac:picMkLst>
            <pc:docMk/>
            <pc:sldMk cId="2637967426" sldId="281"/>
            <ac:picMk id="5" creationId="{E23192C7-8C93-9C4D-41AC-707C647699FD}"/>
          </ac:picMkLst>
        </pc:picChg>
      </pc:sldChg>
      <pc:sldChg chg="addSp delSp mod">
        <pc:chgData name="Manohith Karnatakam" userId="91e48cb1b7da0206" providerId="LiveId" clId="{9A9EBA8A-203F-4A0D-B316-2A90FB8CFD77}" dt="2025-12-03T07:08:54.733" v="16"/>
        <pc:sldMkLst>
          <pc:docMk/>
          <pc:sldMk cId="2958222314" sldId="282"/>
        </pc:sldMkLst>
        <pc:picChg chg="add">
          <ac:chgData name="Manohith Karnatakam" userId="91e48cb1b7da0206" providerId="LiveId" clId="{9A9EBA8A-203F-4A0D-B316-2A90FB8CFD77}" dt="2025-12-03T07:08:54.733" v="16"/>
          <ac:picMkLst>
            <pc:docMk/>
            <pc:sldMk cId="2958222314" sldId="282"/>
            <ac:picMk id="4" creationId="{9677CCFB-F0C1-8D92-1398-B4C62D8039DC}"/>
          </ac:picMkLst>
        </pc:picChg>
        <pc:picChg chg="del">
          <ac:chgData name="Manohith Karnatakam" userId="91e48cb1b7da0206" providerId="LiveId" clId="{9A9EBA8A-203F-4A0D-B316-2A90FB8CFD77}" dt="2025-12-03T07:08:49.478" v="15" actId="21"/>
          <ac:picMkLst>
            <pc:docMk/>
            <pc:sldMk cId="2958222314" sldId="282"/>
            <ac:picMk id="5" creationId="{4033EB29-62D0-1D32-3FDB-24D8CFC7B3D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Forecast of a Flood Levels in a River</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PSCS_6(CSE-133)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Dr Vijaya Kumar A V</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422079042"/>
              </p:ext>
            </p:extLst>
          </p:nvPr>
        </p:nvGraphicFramePr>
        <p:xfrm>
          <a:off x="553347" y="2721840"/>
          <a:ext cx="5418675" cy="2016039"/>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r>
                        <a:rPr lang="en-US" dirty="0"/>
                        <a:t>20221CSE0199</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r>
                        <a:rPr lang="en-US" dirty="0"/>
                        <a:t>Karnatakam Manohith</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r>
                        <a:rPr lang="en-US" dirty="0"/>
                        <a:t>20221CSE0245</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r>
                        <a:rPr lang="en-US" dirty="0" err="1"/>
                        <a:t>Vaddireddy</a:t>
                      </a:r>
                      <a:r>
                        <a:rPr lang="en-US" dirty="0"/>
                        <a:t> Sivananda Reddy</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r>
                        <a:rPr lang="en-US" dirty="0"/>
                        <a:t>20221CSE0221</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r>
                        <a:rPr lang="en-US" dirty="0" err="1"/>
                        <a:t>Palem</a:t>
                      </a:r>
                      <a:r>
                        <a:rPr lang="en-US" dirty="0"/>
                        <a:t> Sreedhar Rao</a:t>
                      </a:r>
                      <a:endParaRPr lang="en-IN" dirty="0"/>
                    </a:p>
                  </a:txBody>
                  <a:tcP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Review-5</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CSE</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Asif Mohammed</a:t>
            </a: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Dr. </a:t>
            </a:r>
            <a:r>
              <a:rPr lang="en-US" sz="1800" b="1" dirty="0" err="1">
                <a:solidFill>
                  <a:srgbClr val="FF0000"/>
                </a:solidFill>
                <a:latin typeface="Cambria" panose="02040503050406030204" pitchFamily="18" charset="0"/>
                <a:ea typeface="Cambria" panose="02040503050406030204" pitchFamily="18" charset="0"/>
                <a:cs typeface="Verdana"/>
                <a:sym typeface="Verdana"/>
              </a:rPr>
              <a:t>Jayavadivel</a:t>
            </a:r>
            <a:r>
              <a:rPr lang="en-US" sz="1800" b="1" dirty="0">
                <a:solidFill>
                  <a:srgbClr val="FF0000"/>
                </a:solidFill>
                <a:latin typeface="Cambria" panose="02040503050406030204" pitchFamily="18" charset="0"/>
                <a:ea typeface="Cambria" panose="02040503050406030204" pitchFamily="18" charset="0"/>
                <a:cs typeface="Verdana"/>
                <a:sym typeface="Verdana"/>
              </a:rPr>
              <a:t> Ravi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PSCS_6</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indent="-190500" algn="just">
              <a:spcBef>
                <a:spcPts val="0"/>
              </a:spcBef>
              <a:buNone/>
            </a:pPr>
            <a:r>
              <a:rPr lang="en-US" dirty="0">
                <a:latin typeface="Cambria" panose="02040503050406030204" pitchFamily="18" charset="0"/>
                <a:ea typeface="Cambria" panose="02040503050406030204" pitchFamily="18" charset="0"/>
              </a:rPr>
              <a:t>Organization: Presidency University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:Hardware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a:t>
            </a:r>
          </a:p>
          <a:p>
            <a:pPr marL="342900" indent="-190500" algn="just">
              <a:lnSpc>
                <a:spcPct val="200000"/>
              </a:lnSpc>
              <a:spcBef>
                <a:spcPts val="0"/>
              </a:spcBef>
              <a:buNone/>
            </a:pPr>
            <a:r>
              <a:rPr lang="en-US" dirty="0"/>
              <a:t>Design and develop a system to project the extent of river inundation based on forecasted flood levels, integrating topographic and hydrological data for improved disaster preparedness</a:t>
            </a:r>
            <a:endParaRPr 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pPr>
            <a:r>
              <a:rPr lang="en-US" dirty="0"/>
              <a:t>Abstract</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pPr>
            <a:r>
              <a:rPr lang="en-US" dirty="0"/>
              <a:t>Literature Survey</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pPr>
            <a:r>
              <a:rPr lang="en-US" dirty="0"/>
              <a:t>Objectives</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pPr>
            <a:r>
              <a:rPr lang="en-US" dirty="0"/>
              <a:t>Modules</a:t>
            </a:r>
          </a:p>
          <a:p>
            <a:pPr marL="495300" indent="-342900" algn="just">
              <a:lnSpc>
                <a:spcPct val="200000"/>
              </a:lnSpc>
              <a:spcBef>
                <a:spcPts val="0"/>
              </a:spcBef>
            </a:pPr>
            <a:r>
              <a:rPr lang="en-US" dirty="0"/>
              <a:t>Architecture Diagram </a:t>
            </a:r>
          </a:p>
          <a:p>
            <a:pPr marL="495300" indent="-342900" algn="just">
              <a:lnSpc>
                <a:spcPct val="200000"/>
              </a:lnSpc>
              <a:spcBef>
                <a:spcPts val="0"/>
              </a:spcBef>
            </a:pPr>
            <a:r>
              <a:rPr lang="en-US" dirty="0"/>
              <a:t>Working Model</a:t>
            </a:r>
          </a:p>
          <a:p>
            <a:pPr marL="495300" indent="-342900" algn="just">
              <a:lnSpc>
                <a:spcPct val="200000"/>
              </a:lnSpc>
              <a:spcBef>
                <a:spcPts val="0"/>
              </a:spcBef>
            </a:pPr>
            <a:r>
              <a:rPr lang="en-US" dirty="0"/>
              <a:t>Timeline (Gantt Chart)</a:t>
            </a:r>
            <a:endParaRPr lang="en-US" dirty="0">
              <a:latin typeface="Cambria" panose="02040503050406030204" pitchFamily="18" charset="0"/>
              <a:ea typeface="Cambria" panose="02040503050406030204" pitchFamily="18" charset="0"/>
            </a:endParaRPr>
          </a:p>
          <a:p>
            <a:pPr marL="495300" indent="-342900" algn="just">
              <a:lnSpc>
                <a:spcPct val="200000"/>
              </a:lnSpc>
              <a:spcBef>
                <a:spcPts val="0"/>
              </a:spcBef>
            </a:pPr>
            <a:r>
              <a:rPr lang="en-US" dirty="0"/>
              <a:t>References</a:t>
            </a: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825018" cy="4806190"/>
          </a:xfrm>
          <a:prstGeom prst="rect">
            <a:avLst/>
          </a:prstGeom>
          <a:noFill/>
          <a:ln>
            <a:noFill/>
          </a:ln>
        </p:spPr>
        <p:txBody>
          <a:bodyPr spcFirstLastPara="1" wrap="square" lIns="91425" tIns="45700" rIns="91425" bIns="45700" anchor="t" anchorCtr="0">
            <a:normAutofit fontScale="85000" lnSpcReduction="20000"/>
          </a:bodyPr>
          <a:lstStyle/>
          <a:p>
            <a:r>
              <a:rPr lang="en-IN" dirty="0">
                <a:effectLst>
                  <a:outerShdw blurRad="38100" dist="19050" dir="2700000" algn="tl">
                    <a:schemeClr val="dk1">
                      <a:alpha val="40000"/>
                    </a:schemeClr>
                  </a:outerShdw>
                </a:effectLst>
              </a:rPr>
              <a:t>Riverine flooding continues to be one of the most severe threats to human societies, especially in regions with large, densely populated floodplains. Beyond its direct consequences such as destruction of infrastructure and crop losses, flood events initiate cascading socio-economic and ecological effects that may last for years. Present methods for addressing flooding often focus on stage forecasting—predicting river height—but fail to offer precise, spatially contextualized assessments of flood extent. This creates a gap between data -availability and decision-making utility.</a:t>
            </a:r>
            <a:endParaRPr lang="en-IN" dirty="0"/>
          </a:p>
          <a:p>
            <a:r>
              <a:rPr lang="en-IN" dirty="0">
                <a:effectLst>
                  <a:outerShdw blurRad="38100" dist="19050" dir="2700000" algn="tl">
                    <a:schemeClr val="dk1">
                      <a:alpha val="40000"/>
                    </a:schemeClr>
                  </a:outerShdw>
                </a:effectLst>
              </a:rPr>
              <a:t>This paper introduces a novel, robust system that integrates real-time IoT-based sensing technologies with advanced GIS-based hydrodynamic </a:t>
            </a:r>
            <a:r>
              <a:rPr lang="en-IN" dirty="0" err="1">
                <a:effectLst>
                  <a:outerShdw blurRad="38100" dist="19050" dir="2700000" algn="tl">
                    <a:schemeClr val="dk1">
                      <a:alpha val="40000"/>
                    </a:schemeClr>
                  </a:outerShdw>
                </a:effectLst>
              </a:rPr>
              <a:t>modeling</a:t>
            </a:r>
            <a:r>
              <a:rPr lang="en-IN" dirty="0">
                <a:effectLst>
                  <a:outerShdw blurRad="38100" dist="19050" dir="2700000" algn="tl">
                    <a:schemeClr val="dk1">
                      <a:alpha val="40000"/>
                    </a:schemeClr>
                  </a:outerShdw>
                </a:effectLst>
              </a:rPr>
              <a:t> frameworks to bridge this critical gap.</a:t>
            </a:r>
          </a:p>
          <a:p>
            <a:r>
              <a:rPr lang="en-IN" dirty="0">
                <a:effectLst>
                  <a:outerShdw blurRad="38100" dist="19050" dir="2700000" algn="tl">
                    <a:schemeClr val="dk1">
                      <a:alpha val="40000"/>
                    </a:schemeClr>
                  </a:outerShdw>
                </a:effectLst>
              </a:rPr>
              <a:t> By developing an integrated architecture encompassing on-ground sensing, cloud-driven analytics, and user-centric visualization interfaces, the proposed framework transforms raw hydrological forecasts into intelligible, action-oriented maps and alerts. Furthermore, this system is designed for resilience, ensuring uninterrupted operation in adverse conditions via hybrid communication strategies and solar-powered autonomy.</a:t>
            </a:r>
            <a:endParaRPr lang="en-IN" dirty="0"/>
          </a:p>
          <a:p>
            <a:pPr marL="152400" lvl="0" indent="0" algn="just" rtl="0">
              <a:lnSpc>
                <a:spcPct val="200000"/>
              </a:lnSpc>
              <a:spcBef>
                <a:spcPts val="0"/>
              </a:spcBef>
              <a:spcAft>
                <a:spcPts val="0"/>
              </a:spcAft>
              <a:buClr>
                <a:schemeClr val="dk1"/>
              </a:buClr>
              <a:buSzPts val="24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8479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t>Literature Survey (Overview) :</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buNone/>
            </a:pPr>
            <a:endParaRPr lang="en-US" dirty="0"/>
          </a:p>
          <a:p>
            <a:pPr marL="609600" indent="-457200" algn="just">
              <a:lnSpc>
                <a:spcPct val="200000"/>
              </a:lnSpc>
              <a:spcBef>
                <a:spcPts val="0"/>
              </a:spcBef>
              <a:buSzPct val="100000"/>
              <a:buFont typeface="+mj-lt"/>
              <a:buAutoNum type="arabicPeriod"/>
            </a:pPr>
            <a:endParaRPr lang="en-US" dirty="0"/>
          </a:p>
          <a:p>
            <a:pPr marL="76200" indent="0">
              <a:buNone/>
            </a:pPr>
            <a:endParaRPr lang="en-IN" dirty="0"/>
          </a:p>
        </p:txBody>
      </p:sp>
      <p:graphicFrame>
        <p:nvGraphicFramePr>
          <p:cNvPr id="2" name="Table 1">
            <a:extLst>
              <a:ext uri="{FF2B5EF4-FFF2-40B4-BE49-F238E27FC236}">
                <a16:creationId xmlns:a16="http://schemas.microsoft.com/office/drawing/2014/main" id="{85804794-EB9A-9F6B-A2BA-DA50906E322E}"/>
              </a:ext>
            </a:extLst>
          </p:cNvPr>
          <p:cNvGraphicFramePr>
            <a:graphicFrameLocks noGrp="1"/>
          </p:cNvGraphicFramePr>
          <p:nvPr>
            <p:extLst>
              <p:ext uri="{D42A27DB-BD31-4B8C-83A1-F6EECF244321}">
                <p14:modId xmlns:p14="http://schemas.microsoft.com/office/powerpoint/2010/main" val="1610123223"/>
              </p:ext>
            </p:extLst>
          </p:nvPr>
        </p:nvGraphicFramePr>
        <p:xfrm>
          <a:off x="924448" y="1171149"/>
          <a:ext cx="10810352" cy="4953000"/>
        </p:xfrm>
        <a:graphic>
          <a:graphicData uri="http://schemas.openxmlformats.org/drawingml/2006/table">
            <a:tbl>
              <a:tblPr firstRow="1" firstCol="1" bandRow="1"/>
              <a:tblGrid>
                <a:gridCol w="778487">
                  <a:extLst>
                    <a:ext uri="{9D8B030D-6E8A-4147-A177-3AD203B41FA5}">
                      <a16:colId xmlns:a16="http://schemas.microsoft.com/office/drawing/2014/main" val="2471703885"/>
                    </a:ext>
                  </a:extLst>
                </a:gridCol>
                <a:gridCol w="2366423">
                  <a:extLst>
                    <a:ext uri="{9D8B030D-6E8A-4147-A177-3AD203B41FA5}">
                      <a16:colId xmlns:a16="http://schemas.microsoft.com/office/drawing/2014/main" val="617041363"/>
                    </a:ext>
                  </a:extLst>
                </a:gridCol>
                <a:gridCol w="2366423">
                  <a:extLst>
                    <a:ext uri="{9D8B030D-6E8A-4147-A177-3AD203B41FA5}">
                      <a16:colId xmlns:a16="http://schemas.microsoft.com/office/drawing/2014/main" val="2356321726"/>
                    </a:ext>
                  </a:extLst>
                </a:gridCol>
                <a:gridCol w="2366423">
                  <a:extLst>
                    <a:ext uri="{9D8B030D-6E8A-4147-A177-3AD203B41FA5}">
                      <a16:colId xmlns:a16="http://schemas.microsoft.com/office/drawing/2014/main" val="255962970"/>
                    </a:ext>
                  </a:extLst>
                </a:gridCol>
                <a:gridCol w="2932596">
                  <a:extLst>
                    <a:ext uri="{9D8B030D-6E8A-4147-A177-3AD203B41FA5}">
                      <a16:colId xmlns:a16="http://schemas.microsoft.com/office/drawing/2014/main" val="2540373539"/>
                    </a:ext>
                  </a:extLst>
                </a:gridCol>
              </a:tblGrid>
              <a:tr h="372410">
                <a:tc>
                  <a:txBody>
                    <a:bodyPr/>
                    <a:lstStyle/>
                    <a:p>
                      <a:pPr algn="ctr">
                        <a:lnSpc>
                          <a:spcPct val="115000"/>
                        </a:lnSpc>
                        <a:spcAft>
                          <a:spcPts val="1000"/>
                        </a:spcAft>
                        <a:buNone/>
                      </a:pPr>
                      <a:r>
                        <a:rPr lang="en-US" sz="900" b="1">
                          <a:effectLst/>
                          <a:latin typeface="Cambria" panose="02040503050406030204" pitchFamily="18" charset="0"/>
                          <a:ea typeface="MS Mincho" panose="02020609040205080304" pitchFamily="49" charset="-128"/>
                          <a:cs typeface="Times New Roman" panose="02020603050405020304" pitchFamily="18" charset="0"/>
                        </a:rPr>
                        <a:t>S.No</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900" b="1">
                          <a:effectLst/>
                          <a:latin typeface="Cambria" panose="02040503050406030204" pitchFamily="18" charset="0"/>
                          <a:ea typeface="MS Mincho" panose="02020609040205080304" pitchFamily="49" charset="-128"/>
                          <a:cs typeface="Times New Roman" panose="02020603050405020304" pitchFamily="18" charset="0"/>
                        </a:rPr>
                        <a:t>PAPER TITLE</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900" b="1">
                          <a:effectLst/>
                          <a:latin typeface="Cambria" panose="02040503050406030204" pitchFamily="18" charset="0"/>
                          <a:ea typeface="MS Mincho" panose="02020609040205080304" pitchFamily="49" charset="-128"/>
                          <a:cs typeface="Times New Roman" panose="02020603050405020304" pitchFamily="18" charset="0"/>
                        </a:rPr>
                        <a:t>METHOD</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900" b="1">
                          <a:effectLst/>
                          <a:latin typeface="Cambria" panose="02040503050406030204" pitchFamily="18" charset="0"/>
                          <a:ea typeface="MS Mincho" panose="02020609040205080304" pitchFamily="49" charset="-128"/>
                          <a:cs typeface="Times New Roman" panose="02020603050405020304" pitchFamily="18" charset="0"/>
                        </a:rPr>
                        <a:t>ADVANTAGES</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buNone/>
                      </a:pPr>
                      <a:r>
                        <a:rPr lang="en-US" sz="900" b="1">
                          <a:effectLst/>
                          <a:latin typeface="Cambria" panose="02040503050406030204" pitchFamily="18" charset="0"/>
                          <a:ea typeface="MS Mincho" panose="02020609040205080304" pitchFamily="49" charset="-128"/>
                          <a:cs typeface="Times New Roman" panose="02020603050405020304" pitchFamily="18" charset="0"/>
                        </a:rPr>
                        <a:t>DIS- ADVANTAGES</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2429480"/>
                  </a:ext>
                </a:extLst>
              </a:tr>
              <a:tr h="739812">
                <a:tc>
                  <a:txBody>
                    <a:bodyPr/>
                    <a:lstStyle/>
                    <a:p>
                      <a:pPr algn="ct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1</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 </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Flood mapping based on synthetic aperture radar</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Global Thresholding</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Automated Thresholding (K&amp;I, Otsu)</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Simple, fast, easy to implement</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Data-driven, avoids manual tuning</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Over-detection, sensitive to choice of threshold</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Can fail when histogram is unimodal or noisy</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44917278"/>
                  </a:ext>
                </a:extLst>
              </a:tr>
              <a:tr h="1442010">
                <a:tc>
                  <a:txBody>
                    <a:bodyPr/>
                    <a:lstStyle/>
                    <a:p>
                      <a:pPr algn="ct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2</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Assessing the impact of river changes on flood regulation capacity using a coupled flood model in an urbanized plain river network region</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Event-based approach using a coupled flood model (integrated hydrologic &amp; hydraulic components implied)</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Event-specific insights.</a:t>
                      </a:r>
                      <a:br>
                        <a:rPr lang="en-US" sz="900">
                          <a:effectLst/>
                          <a:latin typeface="Cambria" panose="02040503050406030204" pitchFamily="18" charset="0"/>
                          <a:ea typeface="MS Mincho" panose="02020609040205080304" pitchFamily="49" charset="-128"/>
                          <a:cs typeface="Times New Roman" panose="02020603050405020304" pitchFamily="18" charset="0"/>
                        </a:rPr>
                      </a:br>
                      <a:r>
                        <a:rPr lang="en-US" sz="900">
                          <a:effectLst/>
                          <a:latin typeface="Cambria" panose="02040503050406030204" pitchFamily="18" charset="0"/>
                          <a:ea typeface="MS Mincho" panose="02020609040205080304" pitchFamily="49" charset="-128"/>
                          <a:cs typeface="Times New Roman" panose="02020603050405020304" pitchFamily="18" charset="0"/>
                        </a:rPr>
                        <a:t>Captures complex interactions via coupling</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Data and computationally intensive.</a:t>
                      </a:r>
                      <a:br>
                        <a:rPr lang="en-US" sz="900">
                          <a:effectLst/>
                          <a:latin typeface="Cambria" panose="02040503050406030204" pitchFamily="18" charset="0"/>
                          <a:ea typeface="MS Mincho" panose="02020609040205080304" pitchFamily="49" charset="-128"/>
                          <a:cs typeface="Times New Roman" panose="02020603050405020304" pitchFamily="18" charset="0"/>
                        </a:rPr>
                      </a:br>
                      <a:r>
                        <a:rPr lang="en-US" sz="900">
                          <a:effectLst/>
                          <a:latin typeface="Cambria" panose="02040503050406030204" pitchFamily="18" charset="0"/>
                          <a:ea typeface="MS Mincho" panose="02020609040205080304" pitchFamily="49" charset="-128"/>
                          <a:cs typeface="Times New Roman" panose="02020603050405020304" pitchFamily="18" charset="0"/>
                        </a:rPr>
                        <a:t>May lack coverage for broader temporal scales.</a:t>
                      </a:r>
                      <a:br>
                        <a:rPr lang="en-US" sz="900">
                          <a:effectLst/>
                          <a:latin typeface="Cambria" panose="02040503050406030204" pitchFamily="18" charset="0"/>
                          <a:ea typeface="MS Mincho" panose="02020609040205080304" pitchFamily="49" charset="-128"/>
                          <a:cs typeface="Times New Roman" panose="02020603050405020304" pitchFamily="18" charset="0"/>
                        </a:rPr>
                      </a:br>
                      <a:r>
                        <a:rPr lang="en-US" sz="900">
                          <a:effectLst/>
                          <a:latin typeface="Cambria" panose="02040503050406030204" pitchFamily="18" charset="0"/>
                          <a:ea typeface="MS Mincho" panose="02020609040205080304" pitchFamily="49" charset="-128"/>
                          <a:cs typeface="Times New Roman" panose="02020603050405020304" pitchFamily="18" charset="0"/>
                        </a:rPr>
                        <a:t>Spatial resolution depends on model sophistication</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8563537"/>
                  </a:ext>
                </a:extLst>
              </a:tr>
              <a:tr h="1280259">
                <a:tc>
                  <a:txBody>
                    <a:bodyPr/>
                    <a:lstStyle/>
                    <a:p>
                      <a:pPr algn="ct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3</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Application of ANN and HEC-RAS model for flood inundation mapping in lower Baro Akobo River Basin, Ethiopia</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ANN for rainfall–runoff modeling → HEC-RAS for hydraulic flood mapping → NDWI for calibration/validation</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High accuracy (ANN performance), strong spatial match with NDWI, effective integration of ML and hydraulic modeling, potential flood warning tool</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dirty="0">
                          <a:effectLst/>
                          <a:latin typeface="Cambria" panose="02040503050406030204" pitchFamily="18" charset="0"/>
                          <a:ea typeface="MS Mincho" panose="02020609040205080304" pitchFamily="49" charset="-128"/>
                          <a:cs typeface="Times New Roman" panose="02020603050405020304" pitchFamily="18" charset="0"/>
                        </a:rPr>
                        <a:t>Data-intensive ANN training, modeling complexity, limited generalizability, computational demands, and reliance on NDWI for validation</a:t>
                      </a:r>
                      <a:endParaRPr lang="en-IN" sz="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0146028"/>
                  </a:ext>
                </a:extLst>
              </a:tr>
              <a:tr h="1118509">
                <a:tc>
                  <a:txBody>
                    <a:bodyPr/>
                    <a:lstStyle/>
                    <a:p>
                      <a:pPr algn="ct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4</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Flood inundation modeling and hazard assessment in Lower Ping River Basin using MIKE FLOOD</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Utilizes MIKE FLOOD (coupled 1D-2D hydraulic modeling)</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a:effectLst/>
                          <a:latin typeface="Cambria" panose="02040503050406030204" pitchFamily="18" charset="0"/>
                          <a:ea typeface="MS Mincho" panose="02020609040205080304" pitchFamily="49" charset="-128"/>
                          <a:cs typeface="Times New Roman" panose="02020603050405020304" pitchFamily="18" charset="0"/>
                        </a:rPr>
                        <a:t>Covers riverine and overland dynamics</a:t>
                      </a:r>
                      <a:br>
                        <a:rPr lang="en-US" sz="900">
                          <a:effectLst/>
                          <a:latin typeface="Cambria" panose="02040503050406030204" pitchFamily="18" charset="0"/>
                          <a:ea typeface="MS Mincho" panose="02020609040205080304" pitchFamily="49" charset="-128"/>
                          <a:cs typeface="Times New Roman" panose="02020603050405020304" pitchFamily="18" charset="0"/>
                        </a:rPr>
                      </a:br>
                      <a:r>
                        <a:rPr lang="en-US" sz="900">
                          <a:effectLst/>
                          <a:latin typeface="Cambria" panose="02040503050406030204" pitchFamily="18" charset="0"/>
                          <a:ea typeface="MS Mincho" panose="02020609040205080304" pitchFamily="49" charset="-128"/>
                          <a:cs typeface="Times New Roman" panose="02020603050405020304" pitchFamily="18" charset="0"/>
                        </a:rPr>
                        <a:t>Integrated modeling Framework</a:t>
                      </a:r>
                      <a:br>
                        <a:rPr lang="en-US" sz="900">
                          <a:effectLst/>
                          <a:latin typeface="Cambria" panose="02040503050406030204" pitchFamily="18" charset="0"/>
                          <a:ea typeface="MS Mincho" panose="02020609040205080304" pitchFamily="49" charset="-128"/>
                          <a:cs typeface="Times New Roman" panose="02020603050405020304" pitchFamily="18" charset="0"/>
                        </a:rPr>
                      </a:br>
                      <a:r>
                        <a:rPr lang="en-US" sz="900">
                          <a:effectLst/>
                          <a:latin typeface="Cambria" panose="02040503050406030204" pitchFamily="18" charset="0"/>
                          <a:ea typeface="MS Mincho" panose="02020609040205080304" pitchFamily="49" charset="-128"/>
                          <a:cs typeface="Times New Roman" panose="02020603050405020304" pitchFamily="18" charset="0"/>
                        </a:rPr>
                        <a:t> Recognized by agencies,</a:t>
                      </a:r>
                      <a:br>
                        <a:rPr lang="en-US" sz="900">
                          <a:effectLst/>
                          <a:latin typeface="Cambria" panose="02040503050406030204" pitchFamily="18" charset="0"/>
                          <a:ea typeface="MS Mincho" panose="02020609040205080304" pitchFamily="49" charset="-128"/>
                          <a:cs typeface="Times New Roman" panose="02020603050405020304" pitchFamily="18" charset="0"/>
                        </a:rPr>
                      </a:br>
                      <a:r>
                        <a:rPr lang="en-US" sz="900">
                          <a:effectLst/>
                          <a:latin typeface="Cambria" panose="02040503050406030204" pitchFamily="18" charset="0"/>
                          <a:ea typeface="MS Mincho" panose="02020609040205080304" pitchFamily="49" charset="-128"/>
                          <a:cs typeface="Times New Roman" panose="02020603050405020304" pitchFamily="18" charset="0"/>
                        </a:rPr>
                        <a:t>Extensible modules</a:t>
                      </a:r>
                      <a:endParaRPr lang="en-IN" sz="90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900" dirty="0">
                          <a:effectLst/>
                          <a:latin typeface="Cambria" panose="02040503050406030204" pitchFamily="18" charset="0"/>
                          <a:ea typeface="MS Mincho" panose="02020609040205080304" pitchFamily="49" charset="-128"/>
                          <a:cs typeface="Times New Roman" panose="02020603050405020304" pitchFamily="18" charset="0"/>
                        </a:rPr>
                        <a:t>Steep learning curve</a:t>
                      </a:r>
                      <a:br>
                        <a:rPr lang="en-US" sz="900" dirty="0">
                          <a:effectLst/>
                          <a:latin typeface="Cambria" panose="02040503050406030204" pitchFamily="18" charset="0"/>
                          <a:ea typeface="MS Mincho" panose="02020609040205080304" pitchFamily="49" charset="-128"/>
                          <a:cs typeface="Times New Roman" panose="02020603050405020304" pitchFamily="18" charset="0"/>
                        </a:rPr>
                      </a:br>
                      <a:r>
                        <a:rPr lang="en-US" sz="900" dirty="0">
                          <a:effectLst/>
                          <a:latin typeface="Cambria" panose="02040503050406030204" pitchFamily="18" charset="0"/>
                          <a:ea typeface="MS Mincho" panose="02020609040205080304" pitchFamily="49" charset="-128"/>
                          <a:cs typeface="Times New Roman" panose="02020603050405020304" pitchFamily="18" charset="0"/>
                        </a:rPr>
                        <a:t>High computational demand</a:t>
                      </a:r>
                      <a:br>
                        <a:rPr lang="en-US" sz="900" dirty="0">
                          <a:effectLst/>
                          <a:latin typeface="Cambria" panose="02040503050406030204" pitchFamily="18" charset="0"/>
                          <a:ea typeface="MS Mincho" panose="02020609040205080304" pitchFamily="49" charset="-128"/>
                          <a:cs typeface="Times New Roman" panose="02020603050405020304" pitchFamily="18" charset="0"/>
                        </a:rPr>
                      </a:br>
                      <a:r>
                        <a:rPr lang="en-US" sz="900" dirty="0">
                          <a:effectLst/>
                          <a:latin typeface="Cambria" panose="02040503050406030204" pitchFamily="18" charset="0"/>
                          <a:ea typeface="MS Mincho" panose="02020609040205080304" pitchFamily="49" charset="-128"/>
                          <a:cs typeface="Times New Roman" panose="02020603050405020304" pitchFamily="18" charset="0"/>
                        </a:rPr>
                        <a:t>Requires technical expertise</a:t>
                      </a:r>
                      <a:endParaRPr lang="en-IN" sz="9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7540" marR="5754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2948060"/>
                  </a:ext>
                </a:extLst>
              </a:tr>
            </a:tbl>
          </a:graphicData>
        </a:graphic>
      </p:graphicFrame>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749800"/>
          </a:xfrm>
          <a:prstGeom prst="rect">
            <a:avLst/>
          </a:prstGeom>
          <a:noFill/>
          <a:ln>
            <a:noFill/>
          </a:ln>
        </p:spPr>
        <p:txBody>
          <a:bodyPr spcFirstLastPara="1" wrap="square" lIns="91425" tIns="45700" rIns="91425" bIns="45700" anchor="t" anchorCtr="0">
            <a:normAutofit fontScale="62500" lnSpcReduction="20000"/>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609600" indent="-457200" algn="just">
              <a:lnSpc>
                <a:spcPct val="200000"/>
              </a:lnSpc>
              <a:spcBef>
                <a:spcPts val="0"/>
              </a:spcBef>
              <a:buSzPct val="100000"/>
              <a:buAutoNum type="arabicPeriod"/>
            </a:pPr>
            <a:r>
              <a:rPr lang="en-US" b="1" dirty="0">
                <a:latin typeface="Cambria" panose="02040503050406030204" pitchFamily="18" charset="0"/>
                <a:ea typeface="Cambria" panose="02040503050406030204" pitchFamily="18" charset="0"/>
              </a:rPr>
              <a:t>Real-time River Level Monitoring</a:t>
            </a:r>
          </a:p>
          <a:p>
            <a:pPr marL="609600" indent="-457200" algn="just">
              <a:lnSpc>
                <a:spcPct val="200000"/>
              </a:lnSpc>
              <a:spcBef>
                <a:spcPts val="0"/>
              </a:spcBef>
              <a:buSzPct val="100000"/>
            </a:pPr>
            <a:r>
              <a:rPr lang="en-US" dirty="0">
                <a:latin typeface="Cambria" panose="02040503050406030204" pitchFamily="18" charset="0"/>
                <a:ea typeface="Cambria" panose="02040503050406030204" pitchFamily="18" charset="0"/>
              </a:rPr>
              <a:t>Deploy IoT-based sensors (ultrasonic, radar, or pressure) to continuously measure river water levels.</a:t>
            </a:r>
          </a:p>
          <a:p>
            <a:pPr marL="609600" indent="-457200" algn="just">
              <a:lnSpc>
                <a:spcPct val="200000"/>
              </a:lnSpc>
              <a:spcBef>
                <a:spcPts val="0"/>
              </a:spcBef>
              <a:buSzPct val="100000"/>
              <a:buAutoNum type="arabicPeriod" startAt="2"/>
            </a:pPr>
            <a:r>
              <a:rPr lang="en-US" b="1" dirty="0">
                <a:latin typeface="Cambria" panose="02040503050406030204" pitchFamily="18" charset="0"/>
                <a:ea typeface="Cambria" panose="02040503050406030204" pitchFamily="18" charset="0"/>
              </a:rPr>
              <a:t>Rainfall &amp; Flow Measurement</a:t>
            </a:r>
          </a:p>
          <a:p>
            <a:pPr marL="609600" indent="-457200" algn="just">
              <a:lnSpc>
                <a:spcPct val="200000"/>
              </a:lnSpc>
              <a:spcBef>
                <a:spcPts val="0"/>
              </a:spcBef>
              <a:buSzPct val="100000"/>
            </a:pPr>
            <a:r>
              <a:rPr lang="en-US" dirty="0">
                <a:latin typeface="Cambria" panose="02040503050406030204" pitchFamily="18" charset="0"/>
                <a:ea typeface="Cambria" panose="02040503050406030204" pitchFamily="18" charset="0"/>
              </a:rPr>
              <a:t>Integrate rain gauges and river flow meters to capture local hydrological conditions that contribute to flooding</a:t>
            </a:r>
          </a:p>
          <a:p>
            <a:pPr marL="609600" indent="-457200" algn="just">
              <a:lnSpc>
                <a:spcPct val="200000"/>
              </a:lnSpc>
              <a:spcBef>
                <a:spcPts val="0"/>
              </a:spcBef>
              <a:buSzPct val="100000"/>
              <a:buAutoNum type="arabicPeriod" startAt="3"/>
            </a:pPr>
            <a:r>
              <a:rPr lang="en-US" b="1" dirty="0">
                <a:latin typeface="Cambria" panose="02040503050406030204" pitchFamily="18" charset="0"/>
                <a:ea typeface="Cambria" panose="02040503050406030204" pitchFamily="18" charset="0"/>
              </a:rPr>
              <a:t>Edge Processing for Faster Alerts</a:t>
            </a:r>
          </a:p>
          <a:p>
            <a:pPr marL="495300" indent="-342900" algn="just">
              <a:lnSpc>
                <a:spcPct val="200000"/>
              </a:lnSpc>
              <a:spcBef>
                <a:spcPts val="0"/>
              </a:spcBef>
              <a:buSzPct val="100000"/>
            </a:pP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Use microcontrollers (Raspberry Pi, Arduino, or industrial controllers) to process sensor data locally before sending it to      the cloud, ensuring quick response.</a:t>
            </a:r>
          </a:p>
          <a:p>
            <a:pPr marL="152400" indent="0" algn="just">
              <a:lnSpc>
                <a:spcPct val="200000"/>
              </a:lnSpc>
              <a:spcBef>
                <a:spcPts val="0"/>
              </a:spcBef>
              <a:buSzPct val="100000"/>
              <a:buNone/>
            </a:pPr>
            <a:r>
              <a:rPr lang="en-US" b="1" dirty="0">
                <a:latin typeface="Cambria" panose="02040503050406030204" pitchFamily="18" charset="0"/>
                <a:ea typeface="Cambria" panose="02040503050406030204" pitchFamily="18" charset="0"/>
              </a:rPr>
              <a:t>4.         Reliable Communication Network</a:t>
            </a:r>
          </a:p>
          <a:p>
            <a:pPr marL="495300" indent="-342900" algn="just">
              <a:lnSpc>
                <a:spcPct val="200000"/>
              </a:lnSpc>
              <a:spcBef>
                <a:spcPts val="0"/>
              </a:spcBef>
              <a:buSzPct val="100000"/>
            </a:pPr>
            <a:r>
              <a:rPr lang="en-US" dirty="0">
                <a:latin typeface="Cambria" panose="02040503050406030204" pitchFamily="18" charset="0"/>
                <a:ea typeface="Cambria" panose="02040503050406030204" pitchFamily="18" charset="0"/>
              </a:rPr>
              <a:t>    Enable data transfer from sensors to the server using </a:t>
            </a:r>
            <a:r>
              <a:rPr lang="en-US" dirty="0" err="1">
                <a:latin typeface="Cambria" panose="02040503050406030204" pitchFamily="18" charset="0"/>
                <a:ea typeface="Cambria" panose="02040503050406030204" pitchFamily="18" charset="0"/>
              </a:rPr>
              <a:t>LoRaWAN</a:t>
            </a:r>
            <a:r>
              <a:rPr lang="en-US" dirty="0">
                <a:latin typeface="Cambria" panose="02040503050406030204" pitchFamily="18" charset="0"/>
                <a:ea typeface="Cambria" panose="02040503050406030204" pitchFamily="18" charset="0"/>
              </a:rPr>
              <a:t>, GSM/4G, or satellite modules for uninterrupted connectivity, even during disasters.</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Modules: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7500" lnSpcReduction="20000"/>
          </a:bodyPr>
          <a:lstStyle/>
          <a:p>
            <a:r>
              <a:rPr lang="en-IN" b="1" dirty="0"/>
              <a:t>River Level Monitoring Module</a:t>
            </a:r>
            <a:endParaRPr lang="en-IN" dirty="0"/>
          </a:p>
          <a:p>
            <a:pPr lvl="1"/>
            <a:r>
              <a:rPr lang="en-IN" dirty="0"/>
              <a:t>IoT-based sensors: ultrasonic, radar, pressure sensors.</a:t>
            </a:r>
          </a:p>
          <a:p>
            <a:pPr lvl="1"/>
            <a:r>
              <a:rPr lang="en-IN" dirty="0"/>
              <a:t>Continuous tracking of water levels in real time.</a:t>
            </a:r>
          </a:p>
          <a:p>
            <a:pPr lvl="1"/>
            <a:r>
              <a:rPr lang="en-IN" dirty="0"/>
              <a:t>Data logging of river level fluctuations.</a:t>
            </a:r>
          </a:p>
          <a:p>
            <a:br>
              <a:rPr lang="en-IN" dirty="0"/>
            </a:br>
            <a:endParaRPr lang="en-IN" dirty="0"/>
          </a:p>
          <a:p>
            <a:r>
              <a:rPr lang="en-IN" b="1" dirty="0"/>
              <a:t>Rainfall &amp; Flow Measurement Module</a:t>
            </a:r>
            <a:endParaRPr lang="en-IN" dirty="0"/>
          </a:p>
          <a:p>
            <a:pPr lvl="1"/>
            <a:r>
              <a:rPr lang="en-IN" dirty="0"/>
              <a:t>Rain gauges for precipitation data.</a:t>
            </a:r>
          </a:p>
          <a:p>
            <a:pPr lvl="1"/>
            <a:r>
              <a:rPr lang="en-IN" dirty="0"/>
              <a:t>River flow meters for discharge measurement.</a:t>
            </a:r>
          </a:p>
          <a:p>
            <a:pPr lvl="1"/>
            <a:r>
              <a:rPr lang="en-IN" dirty="0"/>
              <a:t>Integration with water quality sensors (optional) for complete hydrological context.</a:t>
            </a:r>
          </a:p>
          <a:p>
            <a:br>
              <a:rPr lang="en-IN" dirty="0"/>
            </a:br>
            <a:endParaRPr lang="en-IN" dirty="0"/>
          </a:p>
          <a:p>
            <a:r>
              <a:rPr lang="en-IN" b="1" dirty="0"/>
              <a:t>Edge Processing &amp; Local Analytics Module</a:t>
            </a:r>
            <a:endParaRPr lang="en-IN" dirty="0"/>
          </a:p>
          <a:p>
            <a:pPr lvl="1"/>
            <a:r>
              <a:rPr lang="en-IN" dirty="0"/>
              <a:t>Microcontrollers (Raspberry Pi, Arduino, Industrial PLCs).</a:t>
            </a:r>
          </a:p>
          <a:p>
            <a:pPr lvl="1"/>
            <a:r>
              <a:rPr lang="en-IN" dirty="0"/>
              <a:t>Local filtering of noise, anomaly detection.</a:t>
            </a:r>
          </a:p>
          <a:p>
            <a:pPr lvl="1"/>
            <a:r>
              <a:rPr lang="en-IN" dirty="0"/>
              <a:t>Quick alert generation at the site before sending to cloud.</a:t>
            </a:r>
          </a:p>
          <a:p>
            <a:br>
              <a:rPr lang="en-IN" dirty="0"/>
            </a:br>
            <a:endParaRPr lang="en-IN" dirty="0"/>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3238F-C560-D49C-5312-BA5386839D57}"/>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Modules:</a:t>
            </a:r>
            <a:endParaRPr lang="en-IN" dirty="0"/>
          </a:p>
        </p:txBody>
      </p:sp>
      <p:sp>
        <p:nvSpPr>
          <p:cNvPr id="3" name="Text Placeholder 2">
            <a:extLst>
              <a:ext uri="{FF2B5EF4-FFF2-40B4-BE49-F238E27FC236}">
                <a16:creationId xmlns:a16="http://schemas.microsoft.com/office/drawing/2014/main" id="{1329AE52-B075-36C1-1E4E-46254C70B998}"/>
              </a:ext>
            </a:extLst>
          </p:cNvPr>
          <p:cNvSpPr>
            <a:spLocks noGrp="1"/>
          </p:cNvSpPr>
          <p:nvPr>
            <p:ph type="body" idx="1"/>
          </p:nvPr>
        </p:nvSpPr>
        <p:spPr/>
        <p:txBody>
          <a:bodyPr>
            <a:normAutofit fontScale="92500" lnSpcReduction="20000"/>
          </a:bodyPr>
          <a:lstStyle/>
          <a:p>
            <a:r>
              <a:rPr lang="en-IN" b="1" dirty="0"/>
              <a:t>Communication &amp; Data Transmission Module</a:t>
            </a:r>
            <a:endParaRPr lang="en-IN" dirty="0"/>
          </a:p>
          <a:p>
            <a:pPr lvl="1"/>
            <a:r>
              <a:rPr lang="en-IN" dirty="0"/>
              <a:t>Wireless protocols: </a:t>
            </a:r>
            <a:r>
              <a:rPr lang="en-IN" dirty="0" err="1"/>
              <a:t>LoRaWAN</a:t>
            </a:r>
            <a:r>
              <a:rPr lang="en-IN" dirty="0"/>
              <a:t>, GSM/4G, Satellite uplinks.</a:t>
            </a:r>
          </a:p>
          <a:p>
            <a:pPr lvl="1"/>
            <a:r>
              <a:rPr lang="en-IN" dirty="0"/>
              <a:t>Redundant channels to ensure connectivity during floods.</a:t>
            </a:r>
          </a:p>
          <a:p>
            <a:pPr lvl="1"/>
            <a:r>
              <a:rPr lang="en-IN" dirty="0"/>
              <a:t>Gateways to aggregate and forward sensor data to central server/cloud.</a:t>
            </a:r>
          </a:p>
          <a:p>
            <a:br>
              <a:rPr lang="en-IN" dirty="0"/>
            </a:br>
            <a:endParaRPr lang="en-IN" dirty="0"/>
          </a:p>
          <a:p>
            <a:r>
              <a:rPr lang="en-IN" b="1" dirty="0"/>
              <a:t>Central Processing &amp; Storage Module</a:t>
            </a:r>
            <a:r>
              <a:rPr lang="en-IN" dirty="0"/>
              <a:t> </a:t>
            </a:r>
            <a:r>
              <a:rPr lang="en-IN" i="1" dirty="0"/>
              <a:t>(derived indirectly)</a:t>
            </a:r>
            <a:endParaRPr lang="en-IN" dirty="0"/>
          </a:p>
          <a:p>
            <a:pPr lvl="1"/>
            <a:r>
              <a:rPr lang="en-IN" dirty="0"/>
              <a:t>Cloud platforms for long-term storage (AWS, Azure, GCP).</a:t>
            </a:r>
          </a:p>
          <a:p>
            <a:pPr lvl="1"/>
            <a:r>
              <a:rPr lang="en-IN" dirty="0"/>
              <a:t>Databases for time-series and spatial data.</a:t>
            </a:r>
          </a:p>
          <a:p>
            <a:pPr lvl="1"/>
            <a:r>
              <a:rPr lang="en-IN" dirty="0"/>
              <a:t>Ensures reliability and accessibility for downstream applications.</a:t>
            </a:r>
          </a:p>
          <a:p>
            <a:br>
              <a:rPr lang="en-IN" dirty="0"/>
            </a:br>
            <a:endParaRPr lang="en-IN" dirty="0"/>
          </a:p>
          <a:p>
            <a:r>
              <a:rPr lang="en-IN" b="1" dirty="0"/>
              <a:t>Visualization &amp; Alerting Module</a:t>
            </a:r>
            <a:r>
              <a:rPr lang="en-IN" dirty="0"/>
              <a:t> </a:t>
            </a:r>
            <a:r>
              <a:rPr lang="en-IN" i="1" dirty="0"/>
              <a:t>(to act on objectives 1–4)</a:t>
            </a:r>
            <a:endParaRPr lang="en-IN" dirty="0"/>
          </a:p>
          <a:p>
            <a:pPr lvl="1"/>
            <a:r>
              <a:rPr lang="en-IN" dirty="0"/>
              <a:t>Dashboards for monitoring river levels and rainfall trends.</a:t>
            </a:r>
          </a:p>
          <a:p>
            <a:pPr lvl="1"/>
            <a:r>
              <a:rPr lang="en-IN" dirty="0"/>
              <a:t>GIS maps for spatial visualization of flood-prone zones.</a:t>
            </a:r>
          </a:p>
          <a:p>
            <a:pPr lvl="1"/>
            <a:r>
              <a:rPr lang="en-IN" dirty="0"/>
              <a:t>Automated alerts (SMS, mobile apps, sirens) for early warning.</a:t>
            </a:r>
          </a:p>
          <a:p>
            <a:endParaRPr lang="en-IN" dirty="0"/>
          </a:p>
        </p:txBody>
      </p:sp>
    </p:spTree>
    <p:extLst>
      <p:ext uri="{BB962C8B-B14F-4D97-AF65-F5344CB8AC3E}">
        <p14:creationId xmlns:p14="http://schemas.microsoft.com/office/powerpoint/2010/main" val="531437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t>Architecture Diagram </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069340"/>
            <a:ext cx="10668000" cy="4953000"/>
          </a:xfrm>
          <a:prstGeom prst="rect">
            <a:avLst/>
          </a:prstGeom>
          <a:noFill/>
          <a:ln>
            <a:noFill/>
          </a:ln>
        </p:spPr>
        <p:txBody>
          <a:bodyPr spcFirstLastPara="1" wrap="square" lIns="91425" tIns="45700" rIns="91425" bIns="45700" anchor="t" anchorCtr="0">
            <a:normAutofit/>
          </a:bodyPr>
          <a:lstStyle/>
          <a:p>
            <a:pPr marL="76200" indent="0">
              <a:buNone/>
            </a:pPr>
            <a:endParaRPr lang="en-US" b="1" dirty="0"/>
          </a:p>
          <a:p>
            <a:pPr marL="76200" indent="0">
              <a:buNone/>
            </a:pPr>
            <a:endParaRPr lang="en-US" b="1" dirty="0"/>
          </a:p>
          <a:p>
            <a:pPr marL="76200" indent="0">
              <a:buNone/>
            </a:pPr>
            <a:endParaRPr lang="en-US" b="1" dirty="0"/>
          </a:p>
          <a:p>
            <a:pPr marL="76200" indent="0">
              <a:buNone/>
            </a:pPr>
            <a:endParaRPr lang="en-US" b="1" dirty="0"/>
          </a:p>
          <a:p>
            <a:pPr marL="76200" indent="0">
              <a:buNone/>
            </a:pPr>
            <a:endParaRPr lang="en-US" b="1" dirty="0"/>
          </a:p>
          <a:p>
            <a:pPr marL="76200" indent="0">
              <a:buNone/>
            </a:pPr>
            <a:endParaRPr lang="en-US" b="1" dirty="0"/>
          </a:p>
          <a:p>
            <a:pPr marL="76200" indent="0">
              <a:buNone/>
            </a:pPr>
            <a:endParaRPr lang="en-US" b="1" dirty="0"/>
          </a:p>
          <a:p>
            <a:pPr marL="76200" indent="0">
              <a:buNone/>
            </a:pPr>
            <a:endParaRPr lang="en-US" b="1" dirty="0"/>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22E1F20F-E715-3560-544D-D532366A276B}"/>
              </a:ext>
            </a:extLst>
          </p:cNvPr>
          <p:cNvPicPr>
            <a:picLocks noChangeAspect="1"/>
          </p:cNvPicPr>
          <p:nvPr/>
        </p:nvPicPr>
        <p:blipFill>
          <a:blip r:embed="rId3"/>
          <a:stretch>
            <a:fillRect/>
          </a:stretch>
        </p:blipFill>
        <p:spPr>
          <a:xfrm>
            <a:off x="2955584" y="1144973"/>
            <a:ext cx="6382431" cy="4568054"/>
          </a:xfrm>
          <a:prstGeom prst="rect">
            <a:avLst/>
          </a:prstGeom>
        </p:spPr>
      </p:pic>
    </p:spTree>
    <p:extLst>
      <p:ext uri="{BB962C8B-B14F-4D97-AF65-F5344CB8AC3E}">
        <p14:creationId xmlns:p14="http://schemas.microsoft.com/office/powerpoint/2010/main" val="2000455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BF85-9C9B-A6A7-9165-6B370CF301B2}"/>
              </a:ext>
            </a:extLst>
          </p:cNvPr>
          <p:cNvSpPr>
            <a:spLocks noGrp="1"/>
          </p:cNvSpPr>
          <p:nvPr>
            <p:ph type="title"/>
          </p:nvPr>
        </p:nvSpPr>
        <p:spPr/>
        <p:txBody>
          <a:bodyPr/>
          <a:lstStyle/>
          <a:p>
            <a:r>
              <a:rPr lang="en-US" dirty="0"/>
              <a:t>WORKING MODEL:</a:t>
            </a:r>
            <a:endParaRPr lang="en-IN" dirty="0"/>
          </a:p>
        </p:txBody>
      </p:sp>
      <p:pic>
        <p:nvPicPr>
          <p:cNvPr id="4" name="Picture 3">
            <a:extLst>
              <a:ext uri="{FF2B5EF4-FFF2-40B4-BE49-F238E27FC236}">
                <a16:creationId xmlns:a16="http://schemas.microsoft.com/office/drawing/2014/main" id="{9677CCFB-F0C1-8D92-1398-B4C62D8039DC}"/>
              </a:ext>
            </a:extLst>
          </p:cNvPr>
          <p:cNvPicPr>
            <a:picLocks noChangeAspect="1"/>
          </p:cNvPicPr>
          <p:nvPr/>
        </p:nvPicPr>
        <p:blipFill>
          <a:blip r:embed="rId2"/>
          <a:stretch>
            <a:fillRect/>
          </a:stretch>
        </p:blipFill>
        <p:spPr>
          <a:xfrm>
            <a:off x="3096508" y="1298263"/>
            <a:ext cx="5998984" cy="4261473"/>
          </a:xfrm>
          <a:prstGeom prst="rect">
            <a:avLst/>
          </a:prstGeom>
        </p:spPr>
      </p:pic>
      <p:sp>
        <p:nvSpPr>
          <p:cNvPr id="3" name="Text Placeholder 2">
            <a:extLst>
              <a:ext uri="{FF2B5EF4-FFF2-40B4-BE49-F238E27FC236}">
                <a16:creationId xmlns:a16="http://schemas.microsoft.com/office/drawing/2014/main" id="{208AA788-8CD0-2AB9-3DE3-23C2AB4B507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58222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FFA5E-B1FF-83C0-11A1-4E1FDD67679D}"/>
              </a:ext>
            </a:extLst>
          </p:cNvPr>
          <p:cNvSpPr>
            <a:spLocks noGrp="1"/>
          </p:cNvSpPr>
          <p:nvPr>
            <p:ph type="title"/>
          </p:nvPr>
        </p:nvSpPr>
        <p:spPr/>
        <p:txBody>
          <a:bodyPr/>
          <a:lstStyle/>
          <a:p>
            <a:r>
              <a:rPr lang="en-US" dirty="0"/>
              <a:t>Continue</a:t>
            </a:r>
            <a:endParaRPr lang="en-IN" dirty="0"/>
          </a:p>
        </p:txBody>
      </p:sp>
      <p:pic>
        <p:nvPicPr>
          <p:cNvPr id="6" name="Picture 5">
            <a:extLst>
              <a:ext uri="{FF2B5EF4-FFF2-40B4-BE49-F238E27FC236}">
                <a16:creationId xmlns:a16="http://schemas.microsoft.com/office/drawing/2014/main" id="{FAA05164-D8DA-C29F-B9E6-BFE4AF5DA03A}"/>
              </a:ext>
            </a:extLst>
          </p:cNvPr>
          <p:cNvPicPr>
            <a:picLocks noChangeAspect="1"/>
          </p:cNvPicPr>
          <p:nvPr/>
        </p:nvPicPr>
        <p:blipFill>
          <a:blip r:embed="rId2"/>
          <a:stretch>
            <a:fillRect/>
          </a:stretch>
        </p:blipFill>
        <p:spPr>
          <a:xfrm rot="16200000">
            <a:off x="3883742" y="0"/>
            <a:ext cx="4424516" cy="6858000"/>
          </a:xfrm>
          <a:prstGeom prst="rect">
            <a:avLst/>
          </a:prstGeom>
        </p:spPr>
      </p:pic>
      <p:sp>
        <p:nvSpPr>
          <p:cNvPr id="3" name="Text Placeholder 2">
            <a:extLst>
              <a:ext uri="{FF2B5EF4-FFF2-40B4-BE49-F238E27FC236}">
                <a16:creationId xmlns:a16="http://schemas.microsoft.com/office/drawing/2014/main" id="{51CEE598-F3AE-D8FF-B9B6-E8F81C82687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14806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284A5-B035-1492-BBC6-F3A8DB072C9A}"/>
              </a:ext>
            </a:extLst>
          </p:cNvPr>
          <p:cNvSpPr>
            <a:spLocks noGrp="1"/>
          </p:cNvSpPr>
          <p:nvPr>
            <p:ph type="title"/>
          </p:nvPr>
        </p:nvSpPr>
        <p:spPr/>
        <p:txBody>
          <a:bodyPr/>
          <a:lstStyle/>
          <a:p>
            <a:r>
              <a:rPr lang="en-US" dirty="0"/>
              <a:t>Continue</a:t>
            </a:r>
            <a:endParaRPr lang="en-IN" dirty="0"/>
          </a:p>
        </p:txBody>
      </p:sp>
      <p:pic>
        <p:nvPicPr>
          <p:cNvPr id="4" name="Picture 3">
            <a:extLst>
              <a:ext uri="{FF2B5EF4-FFF2-40B4-BE49-F238E27FC236}">
                <a16:creationId xmlns:a16="http://schemas.microsoft.com/office/drawing/2014/main" id="{D0B2D708-7F3F-3DF5-2C07-5FAB8B3C1975}"/>
              </a:ext>
            </a:extLst>
          </p:cNvPr>
          <p:cNvPicPr>
            <a:picLocks noChangeAspect="1"/>
          </p:cNvPicPr>
          <p:nvPr/>
        </p:nvPicPr>
        <p:blipFill>
          <a:blip r:embed="rId2"/>
          <a:stretch>
            <a:fillRect/>
          </a:stretch>
        </p:blipFill>
        <p:spPr>
          <a:xfrm rot="16200000">
            <a:off x="3995304" y="340071"/>
            <a:ext cx="4201392" cy="6858000"/>
          </a:xfrm>
          <a:prstGeom prst="rect">
            <a:avLst/>
          </a:prstGeom>
        </p:spPr>
      </p:pic>
      <p:sp>
        <p:nvSpPr>
          <p:cNvPr id="3" name="Text Placeholder 2">
            <a:extLst>
              <a:ext uri="{FF2B5EF4-FFF2-40B4-BE49-F238E27FC236}">
                <a16:creationId xmlns:a16="http://schemas.microsoft.com/office/drawing/2014/main" id="{84498962-9ED1-41B0-0224-FE72EC6B2C7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87711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01B8A-7A73-DEA3-DF5A-E29B765A3746}"/>
              </a:ext>
            </a:extLst>
          </p:cNvPr>
          <p:cNvSpPr>
            <a:spLocks noGrp="1"/>
          </p:cNvSpPr>
          <p:nvPr>
            <p:ph type="title"/>
          </p:nvPr>
        </p:nvSpPr>
        <p:spPr/>
        <p:txBody>
          <a:bodyPr/>
          <a:lstStyle/>
          <a:p>
            <a:r>
              <a:rPr lang="en-US" dirty="0"/>
              <a:t>Continue</a:t>
            </a:r>
            <a:endParaRPr lang="en-IN" dirty="0"/>
          </a:p>
        </p:txBody>
      </p:sp>
      <p:pic>
        <p:nvPicPr>
          <p:cNvPr id="4" name="Picture 3">
            <a:extLst>
              <a:ext uri="{FF2B5EF4-FFF2-40B4-BE49-F238E27FC236}">
                <a16:creationId xmlns:a16="http://schemas.microsoft.com/office/drawing/2014/main" id="{AF927CB8-B5A3-F78D-3803-72E1676167E1}"/>
              </a:ext>
            </a:extLst>
          </p:cNvPr>
          <p:cNvPicPr>
            <a:picLocks noChangeAspect="1"/>
          </p:cNvPicPr>
          <p:nvPr/>
        </p:nvPicPr>
        <p:blipFill>
          <a:blip r:embed="rId2"/>
          <a:stretch>
            <a:fillRect/>
          </a:stretch>
        </p:blipFill>
        <p:spPr>
          <a:xfrm rot="16200000">
            <a:off x="3887989" y="190501"/>
            <a:ext cx="4517621" cy="6858000"/>
          </a:xfrm>
          <a:prstGeom prst="rect">
            <a:avLst/>
          </a:prstGeom>
        </p:spPr>
      </p:pic>
      <p:sp>
        <p:nvSpPr>
          <p:cNvPr id="3" name="Text Placeholder 2">
            <a:extLst>
              <a:ext uri="{FF2B5EF4-FFF2-40B4-BE49-F238E27FC236}">
                <a16:creationId xmlns:a16="http://schemas.microsoft.com/office/drawing/2014/main" id="{843B987D-BA79-D5B7-7509-B8A369FAF5A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7967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2" name="Picture 1">
            <a:extLst>
              <a:ext uri="{FF2B5EF4-FFF2-40B4-BE49-F238E27FC236}">
                <a16:creationId xmlns:a16="http://schemas.microsoft.com/office/drawing/2014/main" id="{3DBCCCFC-1D3B-2E32-C184-8B2BB4A514F8}"/>
              </a:ext>
            </a:extLst>
          </p:cNvPr>
          <p:cNvPicPr>
            <a:picLocks noChangeAspect="1"/>
          </p:cNvPicPr>
          <p:nvPr/>
        </p:nvPicPr>
        <p:blipFill>
          <a:blip r:embed="rId3"/>
          <a:stretch>
            <a:fillRect/>
          </a:stretch>
        </p:blipFill>
        <p:spPr>
          <a:xfrm>
            <a:off x="1033542" y="2270125"/>
            <a:ext cx="10447257" cy="2269791"/>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pPr lvl="0"/>
            <a:r>
              <a:rPr lang="en-IN" sz="2200" dirty="0">
                <a:effectLst>
                  <a:outerShdw blurRad="38100" dist="19050" dir="2700000" algn="tl">
                    <a:schemeClr val="dk1">
                      <a:alpha val="40000"/>
                    </a:schemeClr>
                  </a:outerShdw>
                </a:effectLst>
              </a:rPr>
              <a:t>Landuyt, L.; Van </a:t>
            </a:r>
            <a:r>
              <a:rPr lang="en-IN" sz="2200" dirty="0" err="1">
                <a:effectLst>
                  <a:outerShdw blurRad="38100" dist="19050" dir="2700000" algn="tl">
                    <a:schemeClr val="dk1">
                      <a:alpha val="40000"/>
                    </a:schemeClr>
                  </a:outerShdw>
                </a:effectLst>
              </a:rPr>
              <a:t>Wesemael</a:t>
            </a:r>
            <a:r>
              <a:rPr lang="en-IN" sz="2200" dirty="0">
                <a:effectLst>
                  <a:outerShdw blurRad="38100" dist="19050" dir="2700000" algn="tl">
                    <a:schemeClr val="dk1">
                      <a:alpha val="40000"/>
                    </a:schemeClr>
                  </a:outerShdw>
                </a:effectLst>
              </a:rPr>
              <a:t>, A.; Schumann, G.J.P.; </a:t>
            </a:r>
            <a:r>
              <a:rPr lang="en-IN" sz="2200" dirty="0" err="1">
                <a:effectLst>
                  <a:outerShdw blurRad="38100" dist="19050" dir="2700000" algn="tl">
                    <a:schemeClr val="dk1">
                      <a:alpha val="40000"/>
                    </a:schemeClr>
                  </a:outerShdw>
                </a:effectLst>
              </a:rPr>
              <a:t>Hostache</a:t>
            </a:r>
            <a:r>
              <a:rPr lang="en-IN" sz="2200" dirty="0">
                <a:effectLst>
                  <a:outerShdw blurRad="38100" dist="19050" dir="2700000" algn="tl">
                    <a:schemeClr val="dk1">
                      <a:alpha val="40000"/>
                    </a:schemeClr>
                  </a:outerShdw>
                </a:effectLst>
              </a:rPr>
              <a:t>, R.; </a:t>
            </a:r>
            <a:r>
              <a:rPr lang="en-IN" sz="2200" dirty="0" err="1">
                <a:effectLst>
                  <a:outerShdw blurRad="38100" dist="19050" dir="2700000" algn="tl">
                    <a:schemeClr val="dk1">
                      <a:alpha val="40000"/>
                    </a:schemeClr>
                  </a:outerShdw>
                </a:effectLst>
              </a:rPr>
              <a:t>Verhoest</a:t>
            </a:r>
            <a:r>
              <a:rPr lang="en-IN" sz="2200" dirty="0">
                <a:effectLst>
                  <a:outerShdw blurRad="38100" dist="19050" dir="2700000" algn="tl">
                    <a:schemeClr val="dk1">
                      <a:alpha val="40000"/>
                    </a:schemeClr>
                  </a:outerShdw>
                </a:effectLst>
              </a:rPr>
              <a:t>, N.E.C.; Van </a:t>
            </a:r>
            <a:r>
              <a:rPr lang="en-IN" sz="2200" dirty="0" err="1">
                <a:effectLst>
                  <a:outerShdw blurRad="38100" dist="19050" dir="2700000" algn="tl">
                    <a:schemeClr val="dk1">
                      <a:alpha val="40000"/>
                    </a:schemeClr>
                  </a:outerShdw>
                </a:effectLst>
              </a:rPr>
              <a:t>Coillie</a:t>
            </a:r>
            <a:r>
              <a:rPr lang="en-IN" sz="2200" dirty="0">
                <a:effectLst>
                  <a:outerShdw blurRad="38100" dist="19050" dir="2700000" algn="tl">
                    <a:schemeClr val="dk1">
                      <a:alpha val="40000"/>
                    </a:schemeClr>
                  </a:outerShdw>
                </a:effectLst>
              </a:rPr>
              <a:t>, F.M.B. Flood mapping based on synthetic aperture radar: An assessment of established approaches. IEEE Trans. </a:t>
            </a:r>
            <a:r>
              <a:rPr lang="en-IN" sz="2200" dirty="0" err="1">
                <a:effectLst>
                  <a:outerShdw blurRad="38100" dist="19050" dir="2700000" algn="tl">
                    <a:schemeClr val="dk1">
                      <a:alpha val="40000"/>
                    </a:schemeClr>
                  </a:outerShdw>
                </a:effectLst>
              </a:rPr>
              <a:t>Geosci</a:t>
            </a:r>
            <a:r>
              <a:rPr lang="en-IN" sz="2200" dirty="0">
                <a:effectLst>
                  <a:outerShdw blurRad="38100" dist="19050" dir="2700000" algn="tl">
                    <a:schemeClr val="dk1">
                      <a:alpha val="40000"/>
                    </a:schemeClr>
                  </a:outerShdw>
                </a:effectLst>
              </a:rPr>
              <a:t> Remote Sens. 2019, 57, 722–739.</a:t>
            </a:r>
            <a:endParaRPr lang="en-IN" sz="2200" dirty="0"/>
          </a:p>
          <a:p>
            <a:pPr lvl="0"/>
            <a:r>
              <a:rPr lang="en-IN" sz="2200" dirty="0">
                <a:effectLst>
                  <a:outerShdw blurRad="38100" dist="19050" dir="2700000" algn="tl">
                    <a:schemeClr val="dk1">
                      <a:alpha val="40000"/>
                    </a:schemeClr>
                  </a:outerShdw>
                </a:effectLst>
              </a:rPr>
              <a:t>Arcement, G.J.; Verne, R.S. Guide for Selecting Manning’s Roughness Coefficients for Natural Channels and Flood Plains. 1989. Available online: http://dpw.lacounty.gov/lacfcd/wdr/files/WG/041615/Guide%20for%20Selecting%20n-Value.pdf (accessed on 6 September 2021).</a:t>
            </a:r>
            <a:endParaRPr lang="en-IN" sz="2200" dirty="0"/>
          </a:p>
          <a:p>
            <a:pPr lvl="0"/>
            <a:r>
              <a:rPr lang="en-IN" sz="2200" dirty="0">
                <a:effectLst>
                  <a:outerShdw blurRad="38100" dist="19050" dir="2700000" algn="tl">
                    <a:schemeClr val="dk1">
                      <a:alpha val="40000"/>
                    </a:schemeClr>
                  </a:outerShdw>
                </a:effectLst>
              </a:rPr>
              <a:t>Barnes, H.H., Jr. Roughness Characteristics of Natural Streams. US Geological Survey Water Supply Paper. 1849. Available online: https://pubs.usgs.gov/wsp/wsp_1849/pdf/wsp_1849.pdf (accessed on 6 September 2021).</a:t>
            </a:r>
            <a:endParaRPr lang="en-IN" sz="2200" dirty="0"/>
          </a:p>
          <a:p>
            <a:pPr lvl="0"/>
            <a:r>
              <a:rPr lang="en-IN" sz="2200" dirty="0" err="1">
                <a:effectLst>
                  <a:outerShdw blurRad="38100" dist="19050" dir="2700000" algn="tl">
                    <a:schemeClr val="dk1">
                      <a:alpha val="40000"/>
                    </a:schemeClr>
                  </a:outerShdw>
                </a:effectLst>
              </a:rPr>
              <a:t>Shustikova</a:t>
            </a:r>
            <a:r>
              <a:rPr lang="en-IN" sz="2200" dirty="0">
                <a:effectLst>
                  <a:outerShdw blurRad="38100" dist="19050" dir="2700000" algn="tl">
                    <a:schemeClr val="dk1">
                      <a:alpha val="40000"/>
                    </a:schemeClr>
                  </a:outerShdw>
                </a:effectLst>
              </a:rPr>
              <a:t>, I., Domeneghetti, A., Neal, J. C., Bates, P., &amp; </a:t>
            </a:r>
            <a:r>
              <a:rPr lang="en-IN" sz="2200" dirty="0" err="1">
                <a:effectLst>
                  <a:outerShdw blurRad="38100" dist="19050" dir="2700000" algn="tl">
                    <a:schemeClr val="dk1">
                      <a:alpha val="40000"/>
                    </a:schemeClr>
                  </a:outerShdw>
                </a:effectLst>
              </a:rPr>
              <a:t>Castellarin</a:t>
            </a:r>
            <a:r>
              <a:rPr lang="en-IN" sz="2200" dirty="0">
                <a:effectLst>
                  <a:outerShdw blurRad="38100" dist="19050" dir="2700000" algn="tl">
                    <a:schemeClr val="dk1">
                      <a:alpha val="40000"/>
                    </a:schemeClr>
                  </a:outerShdw>
                </a:effectLst>
              </a:rPr>
              <a:t>, A. (2019). Comparing 2D capabilities of HEC-RAS and LISFLOOD-FP on complex topography. Hydrological Sciences Journal, 64(14), 1769-1782. </a:t>
            </a:r>
            <a:r>
              <a:rPr lang="en-IN" sz="2200" dirty="0" err="1">
                <a:effectLst>
                  <a:outerShdw blurRad="38100" dist="19050" dir="2700000" algn="tl">
                    <a:schemeClr val="dk1">
                      <a:alpha val="40000"/>
                    </a:schemeClr>
                  </a:outerShdw>
                </a:effectLst>
              </a:rPr>
              <a:t>doi</a:t>
            </a:r>
            <a:r>
              <a:rPr lang="en-IN" sz="2200" dirty="0">
                <a:effectLst>
                  <a:outerShdw blurRad="38100" dist="19050" dir="2700000" algn="tl">
                    <a:schemeClr val="dk1">
                      <a:alpha val="40000"/>
                    </a:schemeClr>
                  </a:outerShdw>
                </a:effectLst>
              </a:rPr>
              <a:t>: https://doi.org/10.1080/02626667.201 9.1671982</a:t>
            </a:r>
            <a:endParaRPr lang="en-IN" sz="2200" dirty="0"/>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TotalTime>
  <Words>1195</Words>
  <Application>Microsoft Office PowerPoint</Application>
  <PresentationFormat>Widescreen</PresentationFormat>
  <Paragraphs>135</Paragraphs>
  <Slides>16</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Cambria</vt:lpstr>
      <vt:lpstr>Verdana</vt:lpstr>
      <vt:lpstr>Wingdings</vt:lpstr>
      <vt:lpstr>Bioinformatics</vt:lpstr>
      <vt:lpstr>Forecast of a Flood Levels in a River</vt:lpstr>
      <vt:lpstr>Problem Statement Number: PSCS_6</vt:lpstr>
      <vt:lpstr>Content</vt:lpstr>
      <vt:lpstr>Abstract:</vt:lpstr>
      <vt:lpstr>Literature Survey (Overview) :</vt:lpstr>
      <vt:lpstr>Objectives</vt:lpstr>
      <vt:lpstr>Modules:</vt:lpstr>
      <vt:lpstr>Modules:</vt:lpstr>
      <vt:lpstr>Architecture Diagram </vt:lpstr>
      <vt:lpstr>WORKING MODEL:</vt:lpstr>
      <vt:lpstr>Continue</vt:lpstr>
      <vt:lpstr>Continue</vt:lpstr>
      <vt:lpstr>Continue</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Manohith Karnatakam</cp:lastModifiedBy>
  <cp:revision>42</cp:revision>
  <dcterms:modified xsi:type="dcterms:W3CDTF">2025-12-03T07:13:26Z</dcterms:modified>
</cp:coreProperties>
</file>